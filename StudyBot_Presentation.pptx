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3" d="100"/>
          <a:sy n="73" d="100"/>
        </p:scale>
        <p:origin x="392" y="4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371600" y="1645920"/>
            <a:ext cx="1371600" cy="50800"/>
          </a:xfrm>
          <a:prstGeom prst="rect">
            <a:avLst/>
          </a:prstGeom>
          <a:solid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371600" y="192024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0" b="1">
                <a:solidFill>
                  <a:srgbClr val="FFFFFF"/>
                </a:solidFill>
                <a:latin typeface="Calibri"/>
              </a:defRPr>
            </a:pPr>
            <a:r>
              <a:t>StudyBot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9260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4285F4"/>
                </a:solidFill>
                <a:latin typeface="Calibri"/>
              </a:defRPr>
            </a:pPr>
            <a:r>
              <a:t>AI-Powered Study Assistant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42062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CCCCCC"/>
                </a:solidFill>
                <a:latin typeface="Calibri"/>
              </a:defRPr>
            </a:pPr>
            <a:r>
              <a:t>Aleksandr Martiushev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46634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9999AA"/>
                </a:solidFill>
                <a:latin typeface="Calibri"/>
              </a:defRPr>
            </a:pPr>
            <a:r>
              <a:t>a.martiushev@innopolis.university  |  CSE-03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Calibri"/>
              </a:defRPr>
            </a:pPr>
            <a:r>
              <a:t>Context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1097280" cy="50800"/>
          </a:xfrm>
          <a:prstGeom prst="rect">
            <a:avLst/>
          </a:prstGeom>
          <a:solid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029200" cy="2011680"/>
          </a:xfrm>
          <a:prstGeom prst="roundRect">
            <a:avLst/>
          </a:prstGeom>
          <a:solid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182880" rtlCol="0" anchor="ctr"/>
          <a:lstStyle/>
          <a:p>
            <a:pPr algn="ctr"/>
            <a:r>
              <a:rPr sz="2200" b="1">
                <a:solidFill>
                  <a:srgbClr val="4285F4"/>
                </a:solidFill>
                <a:latin typeface="Calibri"/>
              </a:rPr>
              <a:t>End-user</a:t>
            </a:r>
          </a:p>
          <a:p>
            <a:pPr>
              <a:spcBef>
                <a:spcPts val="600"/>
              </a:spcBef>
            </a:pPr>
            <a:r>
              <a:rPr sz="1700">
                <a:solidFill>
                  <a:srgbClr val="CCCCCC"/>
                </a:solidFill>
                <a:latin typeface="Calibri"/>
              </a:rPr>
              <a:t>University students who want to efficiently understand
study material and retain it long-term.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0" y="1463040"/>
            <a:ext cx="5029200" cy="2011680"/>
          </a:xfrm>
          <a:prstGeom prst="roundRect">
            <a:avLst/>
          </a:prstGeom>
          <a:solid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182880" rtlCol="0" anchor="ctr"/>
          <a:lstStyle/>
          <a:p>
            <a:pPr algn="ctr"/>
            <a:r>
              <a:rPr sz="2200" b="1">
                <a:solidFill>
                  <a:srgbClr val="4285F4"/>
                </a:solidFill>
                <a:latin typeface="Calibri"/>
              </a:rPr>
              <a:t>Problem</a:t>
            </a:r>
          </a:p>
          <a:p>
            <a:pPr>
              <a:spcBef>
                <a:spcPts val="600"/>
              </a:spcBef>
            </a:pPr>
            <a:r>
              <a:rPr sz="1700">
                <a:solidFill>
                  <a:srgbClr val="CCCCCC"/>
                </a:solidFill>
                <a:latin typeface="Calibri"/>
              </a:rPr>
              <a:t>Students spend hours on lecture notes and textbooks
without a tool to explain concepts, generate flashcards,
or create self-assessment quizzes.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4682663"/>
            <a:ext cx="10698480" cy="955169"/>
          </a:xfrm>
          <a:prstGeom prst="roundRect">
            <a:avLst/>
          </a:prstGeom>
          <a:solid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0" tIns="274320" rtlCol="0" anchor="ctr"/>
          <a:lstStyle/>
          <a:p>
            <a:pPr algn="ctr"/>
            <a:r>
              <a:rPr sz="2200" b="1" dirty="0">
                <a:solidFill>
                  <a:srgbClr val="4285F4"/>
                </a:solidFill>
                <a:latin typeface="Calibri"/>
              </a:rPr>
              <a:t>Product idea</a:t>
            </a:r>
          </a:p>
          <a:p>
            <a:pPr>
              <a:spcBef>
                <a:spcPts val="1000"/>
              </a:spcBef>
            </a:pPr>
            <a:r>
              <a:rPr sz="1800" dirty="0" err="1">
                <a:solidFill>
                  <a:srgbClr val="FFFFFF"/>
                </a:solidFill>
                <a:latin typeface="Calibri"/>
              </a:rPr>
              <a:t>StudyBot</a:t>
            </a:r>
            <a:r>
              <a:rPr sz="1800" dirty="0">
                <a:solidFill>
                  <a:srgbClr val="FFFFFF"/>
                </a:solidFill>
                <a:latin typeface="Calibri"/>
              </a:rPr>
              <a:t> is an AI assistant that takes study material (text, PDF, DOCX), explains it in simple terms, creates flashcards with spaced repetition, and generates multiple-choice quizzes for self-testing.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Calibri"/>
              </a:defRPr>
            </a:pPr>
            <a:r>
              <a:t>Implementation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1097280" cy="50800"/>
          </a:xfrm>
          <a:prstGeom prst="rect">
            <a:avLst/>
          </a:prstGeom>
          <a:solid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4285F4"/>
                </a:solidFill>
                <a:latin typeface="Calibri"/>
              </a:defRPr>
            </a:pPr>
            <a:r>
              <a:t>Tech Stack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5029200" cy="2011680"/>
          </a:xfrm>
          <a:prstGeom prst="roundRect">
            <a:avLst/>
          </a:prstGeom>
          <a:solid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137160" rtlCol="0" anchor="ctr"/>
          <a:lstStyle/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1600" b="1" dirty="0">
                <a:solidFill>
                  <a:srgbClr val="FFFFFF"/>
                </a:solidFill>
                <a:latin typeface="Calibri"/>
              </a:rPr>
              <a:t>Backend:  </a:t>
            </a:r>
            <a:r>
              <a:rPr sz="1600" dirty="0">
                <a:solidFill>
                  <a:srgbClr val="CCCCCC"/>
                </a:solidFill>
                <a:latin typeface="Calibri"/>
              </a:rPr>
              <a:t>Python 3.12 + </a:t>
            </a:r>
            <a:r>
              <a:rPr sz="1600" dirty="0" err="1">
                <a:solidFill>
                  <a:srgbClr val="CCCCCC"/>
                </a:solidFill>
                <a:latin typeface="Calibri"/>
              </a:rPr>
              <a:t>FastAPI</a:t>
            </a:r>
            <a:endParaRPr sz="1600" dirty="0">
              <a:solidFill>
                <a:srgbClr val="CCCCCC"/>
              </a:solidFill>
              <a:latin typeface="Calibri"/>
            </a:endParaRP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600" b="1" dirty="0">
                <a:solidFill>
                  <a:srgbClr val="FFFFFF"/>
                </a:solidFill>
                <a:latin typeface="Calibri"/>
              </a:rPr>
              <a:t>Database:  </a:t>
            </a:r>
            <a:r>
              <a:rPr sz="1600" dirty="0">
                <a:solidFill>
                  <a:srgbClr val="CCCCCC"/>
                </a:solidFill>
                <a:latin typeface="Calibri"/>
              </a:rPr>
              <a:t>PostgreSQL + </a:t>
            </a:r>
            <a:r>
              <a:rPr sz="1600" dirty="0" err="1">
                <a:solidFill>
                  <a:srgbClr val="CCCCCC"/>
                </a:solidFill>
                <a:latin typeface="Calibri"/>
              </a:rPr>
              <a:t>SQLAlchemy</a:t>
            </a:r>
            <a:r>
              <a:rPr sz="1600" dirty="0">
                <a:solidFill>
                  <a:srgbClr val="CCCCCC"/>
                </a:solidFill>
                <a:latin typeface="Calibri"/>
              </a:rPr>
              <a:t> (async) + Alembic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600" b="1" dirty="0">
                <a:solidFill>
                  <a:srgbClr val="FFFFFF"/>
                </a:solidFill>
                <a:latin typeface="Calibri"/>
              </a:rPr>
              <a:t>AI:  </a:t>
            </a:r>
            <a:r>
              <a:rPr sz="1600" dirty="0" err="1">
                <a:solidFill>
                  <a:srgbClr val="CCCCCC"/>
                </a:solidFill>
                <a:latin typeface="Calibri"/>
              </a:rPr>
              <a:t>DeepSeek</a:t>
            </a:r>
            <a:r>
              <a:rPr sz="1600" dirty="0">
                <a:solidFill>
                  <a:srgbClr val="CCCCCC"/>
                </a:solidFill>
                <a:latin typeface="Calibri"/>
              </a:rPr>
              <a:t> API (</a:t>
            </a:r>
            <a:r>
              <a:rPr sz="1600" dirty="0" err="1">
                <a:solidFill>
                  <a:srgbClr val="CCCCCC"/>
                </a:solidFill>
                <a:latin typeface="Calibri"/>
              </a:rPr>
              <a:t>OpenAI</a:t>
            </a:r>
            <a:r>
              <a:rPr sz="1600" dirty="0">
                <a:solidFill>
                  <a:srgbClr val="CCCCCC"/>
                </a:solidFill>
                <a:latin typeface="Calibri"/>
              </a:rPr>
              <a:t>-compatible)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600" b="1" dirty="0">
                <a:solidFill>
                  <a:srgbClr val="FFFFFF"/>
                </a:solidFill>
                <a:latin typeface="Calibri"/>
              </a:rPr>
              <a:t>Telegram Agent:  </a:t>
            </a:r>
            <a:r>
              <a:rPr lang="ru-RU" sz="1600" b="1" dirty="0">
                <a:solidFill>
                  <a:srgbClr val="FFFFFF"/>
                </a:solidFill>
                <a:latin typeface="Calibri"/>
              </a:rPr>
              <a:t>	</a:t>
            </a:r>
            <a:r>
              <a:rPr sz="1600" dirty="0" err="1">
                <a:solidFill>
                  <a:srgbClr val="CCCCCC"/>
                </a:solidFill>
                <a:latin typeface="Calibri"/>
              </a:rPr>
              <a:t>aiogram</a:t>
            </a:r>
            <a:r>
              <a:rPr sz="1600" dirty="0">
                <a:solidFill>
                  <a:srgbClr val="CCCCCC"/>
                </a:solidFill>
                <a:latin typeface="Calibri"/>
              </a:rPr>
              <a:t> 3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600" b="1" dirty="0">
                <a:solidFill>
                  <a:srgbClr val="FFFFFF"/>
                </a:solidFill>
                <a:latin typeface="Calibri"/>
              </a:rPr>
              <a:t>Web Client:  </a:t>
            </a:r>
            <a:r>
              <a:rPr sz="1600" dirty="0">
                <a:solidFill>
                  <a:srgbClr val="CCCCCC"/>
                </a:solidFill>
                <a:latin typeface="Calibri"/>
              </a:rPr>
              <a:t>React + </a:t>
            </a:r>
            <a:r>
              <a:rPr sz="1600" dirty="0" err="1">
                <a:solidFill>
                  <a:srgbClr val="CCCCCC"/>
                </a:solidFill>
                <a:latin typeface="Calibri"/>
              </a:rPr>
              <a:t>Vite</a:t>
            </a:r>
            <a:r>
              <a:rPr sz="1600" dirty="0">
                <a:solidFill>
                  <a:srgbClr val="CCCCCC"/>
                </a:solidFill>
                <a:latin typeface="Calibri"/>
              </a:rPr>
              <a:t> + TypeScript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600" b="1" dirty="0">
                <a:solidFill>
                  <a:srgbClr val="FFFFFF"/>
                </a:solidFill>
                <a:latin typeface="Calibri"/>
              </a:rPr>
              <a:t>Deployment:  </a:t>
            </a:r>
            <a:r>
              <a:rPr sz="1600" dirty="0">
                <a:solidFill>
                  <a:srgbClr val="CCCCCC"/>
                </a:solidFill>
                <a:latin typeface="Calibri"/>
              </a:rPr>
              <a:t>Docker Compose + Nginx + VM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4206240"/>
            <a:ext cx="5029200" cy="2194560"/>
          </a:xfrm>
          <a:prstGeom prst="roundRect">
            <a:avLst/>
          </a:prstGeom>
          <a:solid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182880" rtlCol="0" anchor="ctr"/>
          <a:lstStyle/>
          <a:p>
            <a:pPr algn="ctr"/>
            <a:r>
              <a:rPr sz="2000" b="1">
                <a:solidFill>
                  <a:srgbClr val="34D39A"/>
                </a:solidFill>
                <a:latin typeface="Calibri"/>
              </a:rPr>
              <a:t>Version 1</a:t>
            </a:r>
          </a:p>
          <a:p>
            <a:pPr>
              <a:spcBef>
                <a:spcPts val="800"/>
              </a:spcBef>
            </a:pPr>
            <a:r>
              <a:rPr sz="1600">
                <a:solidFill>
                  <a:srgbClr val="CCCCCC"/>
                </a:solidFill>
                <a:latin typeface="Calibri"/>
              </a:rPr>
              <a:t>Upload study text → AI explanation → Generate flashcards.
Web interface + Telegram bot.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2103120"/>
            <a:ext cx="5212080" cy="4297680"/>
          </a:xfrm>
          <a:prstGeom prst="roundRect">
            <a:avLst/>
          </a:prstGeom>
          <a:solid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182880" rtlCol="0" anchor="ctr"/>
          <a:lstStyle/>
          <a:p>
            <a:pPr algn="ctr"/>
            <a:r>
              <a:rPr sz="2000" b="1" dirty="0">
                <a:solidFill>
                  <a:srgbClr val="4285F4"/>
                </a:solidFill>
                <a:latin typeface="Calibri"/>
              </a:rPr>
              <a:t>Version 2 — New Features</a:t>
            </a:r>
          </a:p>
          <a:p>
            <a:pPr>
              <a:spcBef>
                <a:spcPts val="600"/>
              </a:spcBef>
            </a:pPr>
            <a:r>
              <a:rPr sz="1500" dirty="0">
                <a:solidFill>
                  <a:srgbClr val="4285F4"/>
                </a:solidFill>
                <a:latin typeface="Calibri"/>
              </a:rPr>
              <a:t>▸ </a:t>
            </a:r>
            <a:r>
              <a:rPr sz="1500" dirty="0">
                <a:solidFill>
                  <a:srgbClr val="CCCCCC"/>
                </a:solidFill>
                <a:latin typeface="Calibri"/>
              </a:rPr>
              <a:t>Quiz generation (10 MCQs, single &amp; multi-select)</a:t>
            </a:r>
          </a:p>
          <a:p>
            <a:pPr>
              <a:spcBef>
                <a:spcPts val="600"/>
              </a:spcBef>
            </a:pPr>
            <a:r>
              <a:rPr sz="1500" dirty="0">
                <a:solidFill>
                  <a:srgbClr val="4285F4"/>
                </a:solidFill>
                <a:latin typeface="Calibri"/>
              </a:rPr>
              <a:t>▸ </a:t>
            </a:r>
            <a:r>
              <a:rPr sz="1500" dirty="0">
                <a:solidFill>
                  <a:srgbClr val="CCCCCC"/>
                </a:solidFill>
                <a:latin typeface="Calibri"/>
              </a:rPr>
              <a:t>Interactive quiz UI with score &amp; explanations</a:t>
            </a:r>
          </a:p>
          <a:p>
            <a:pPr>
              <a:spcBef>
                <a:spcPts val="600"/>
              </a:spcBef>
            </a:pPr>
            <a:r>
              <a:rPr sz="1500" dirty="0">
                <a:solidFill>
                  <a:srgbClr val="4285F4"/>
                </a:solidFill>
                <a:latin typeface="Calibri"/>
              </a:rPr>
              <a:t>▸ </a:t>
            </a:r>
            <a:r>
              <a:rPr sz="1500" dirty="0">
                <a:solidFill>
                  <a:srgbClr val="CCCCCC"/>
                </a:solidFill>
                <a:latin typeface="Calibri"/>
              </a:rPr>
              <a:t>Spaced repetition (SM-2 algorithm)</a:t>
            </a:r>
          </a:p>
          <a:p>
            <a:pPr>
              <a:spcBef>
                <a:spcPts val="600"/>
              </a:spcBef>
            </a:pPr>
            <a:r>
              <a:rPr sz="1500" dirty="0">
                <a:solidFill>
                  <a:srgbClr val="4285F4"/>
                </a:solidFill>
                <a:latin typeface="Calibri"/>
              </a:rPr>
              <a:t>▸ </a:t>
            </a:r>
            <a:r>
              <a:rPr sz="1500" dirty="0">
                <a:solidFill>
                  <a:srgbClr val="CCCCCC"/>
                </a:solidFill>
                <a:latin typeface="Calibri"/>
              </a:rPr>
              <a:t>Review page for due flashcards (quality 0–5)</a:t>
            </a:r>
          </a:p>
          <a:p>
            <a:pPr>
              <a:spcBef>
                <a:spcPts val="600"/>
              </a:spcBef>
            </a:pPr>
            <a:r>
              <a:rPr sz="1500" dirty="0">
                <a:solidFill>
                  <a:srgbClr val="4285F4"/>
                </a:solidFill>
                <a:latin typeface="Calibri"/>
              </a:rPr>
              <a:t>▸ </a:t>
            </a:r>
            <a:r>
              <a:rPr sz="1500" dirty="0">
                <a:solidFill>
                  <a:srgbClr val="CCCCCC"/>
                </a:solidFill>
                <a:latin typeface="Calibri"/>
              </a:rPr>
              <a:t>Statistics page (progress tracking)</a:t>
            </a:r>
          </a:p>
          <a:p>
            <a:pPr>
              <a:spcBef>
                <a:spcPts val="600"/>
              </a:spcBef>
            </a:pPr>
            <a:r>
              <a:rPr sz="1500" dirty="0">
                <a:solidFill>
                  <a:srgbClr val="4285F4"/>
                </a:solidFill>
                <a:latin typeface="Calibri"/>
              </a:rPr>
              <a:t>▸ </a:t>
            </a:r>
            <a:r>
              <a:rPr sz="1500" dirty="0">
                <a:solidFill>
                  <a:srgbClr val="CCCCCC"/>
                </a:solidFill>
                <a:latin typeface="Calibri"/>
              </a:rPr>
              <a:t>File upload (.pdf, .docx with text extraction)</a:t>
            </a:r>
          </a:p>
          <a:p>
            <a:pPr>
              <a:spcBef>
                <a:spcPts val="600"/>
              </a:spcBef>
            </a:pPr>
            <a:r>
              <a:rPr sz="1500" dirty="0">
                <a:solidFill>
                  <a:srgbClr val="4285F4"/>
                </a:solidFill>
                <a:latin typeface="Calibri"/>
              </a:rPr>
              <a:t>▸ </a:t>
            </a:r>
            <a:r>
              <a:rPr sz="1500" dirty="0">
                <a:solidFill>
                  <a:srgbClr val="CCCCCC"/>
                </a:solidFill>
                <a:latin typeface="Calibri"/>
              </a:rPr>
              <a:t>Public deployment on VM with Nginx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Calibri"/>
              </a:defRPr>
            </a:pPr>
            <a:r>
              <a:t>Demo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1097280" cy="50800"/>
          </a:xfrm>
          <a:prstGeom prst="rect">
            <a:avLst/>
          </a:prstGeom>
          <a:solid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CCCCCC"/>
                </a:solidFill>
                <a:latin typeface="Calibri"/>
              </a:defRPr>
            </a:pPr>
            <a:r>
              <a:t>Pre-recorded video of Version 2 (≤ 2 min with voice-over):</a:t>
            </a:r>
          </a:p>
        </p:txBody>
      </p:sp>
      <p:sp>
        <p:nvSpPr>
          <p:cNvPr id="5" name="Oval 4"/>
          <p:cNvSpPr/>
          <p:nvPr/>
        </p:nvSpPr>
        <p:spPr>
          <a:xfrm>
            <a:off x="1097280" y="2194560"/>
            <a:ext cx="457200" cy="457200"/>
          </a:xfrm>
          <a:prstGeom prst="ellipse">
            <a:avLst/>
          </a:prstGeom>
          <a:solid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21945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0">
                <a:solidFill>
                  <a:srgbClr val="CCCCCC"/>
                </a:solidFill>
                <a:latin typeface="Calibri"/>
              </a:defRPr>
            </a:pPr>
            <a:r>
              <a:t>Open the web app → home page showing uploaded materials</a:t>
            </a:r>
          </a:p>
        </p:txBody>
      </p:sp>
      <p:sp>
        <p:nvSpPr>
          <p:cNvPr id="7" name="Oval 6"/>
          <p:cNvSpPr/>
          <p:nvPr/>
        </p:nvSpPr>
        <p:spPr>
          <a:xfrm>
            <a:off x="1097280" y="2788920"/>
            <a:ext cx="457200" cy="457200"/>
          </a:xfrm>
          <a:prstGeom prst="ellipse">
            <a:avLst/>
          </a:prstGeom>
          <a:solid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27889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0">
                <a:solidFill>
                  <a:srgbClr val="CCCCCC"/>
                </a:solidFill>
                <a:latin typeface="Calibri"/>
              </a:defRPr>
            </a:pPr>
            <a:r>
              <a:t>Upload a PDF file → material is created automatically</a:t>
            </a:r>
          </a:p>
        </p:txBody>
      </p:sp>
      <p:sp>
        <p:nvSpPr>
          <p:cNvPr id="9" name="Oval 8"/>
          <p:cNvSpPr/>
          <p:nvPr/>
        </p:nvSpPr>
        <p:spPr>
          <a:xfrm>
            <a:off x="1097280" y="3383280"/>
            <a:ext cx="457200" cy="457200"/>
          </a:xfrm>
          <a:prstGeom prst="ellipse">
            <a:avLst/>
          </a:prstGeom>
          <a:solid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33832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0">
                <a:solidFill>
                  <a:srgbClr val="CCCCCC"/>
                </a:solidFill>
                <a:latin typeface="Calibri"/>
              </a:defRPr>
            </a:pPr>
            <a:r>
              <a:t>Click "Explain" → AI generates a clear explanation as Markdown</a:t>
            </a:r>
          </a:p>
        </p:txBody>
      </p:sp>
      <p:sp>
        <p:nvSpPr>
          <p:cNvPr id="11" name="Oval 10"/>
          <p:cNvSpPr/>
          <p:nvPr/>
        </p:nvSpPr>
        <p:spPr>
          <a:xfrm>
            <a:off x="1097280" y="3977640"/>
            <a:ext cx="457200" cy="457200"/>
          </a:xfrm>
          <a:prstGeom prst="ellipse">
            <a:avLst/>
          </a:prstGeom>
          <a:solid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39776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0">
                <a:solidFill>
                  <a:srgbClr val="CCCCCC"/>
                </a:solidFill>
                <a:latin typeface="Calibri"/>
              </a:defRPr>
            </a:pPr>
            <a:r>
              <a:t>Click "Flashcards" → interactive flip cards appear</a:t>
            </a:r>
          </a:p>
        </p:txBody>
      </p:sp>
      <p:sp>
        <p:nvSpPr>
          <p:cNvPr id="13" name="Oval 12"/>
          <p:cNvSpPr/>
          <p:nvPr/>
        </p:nvSpPr>
        <p:spPr>
          <a:xfrm>
            <a:off x="1097280" y="4572000"/>
            <a:ext cx="457200" cy="457200"/>
          </a:xfrm>
          <a:prstGeom prst="ellipse">
            <a:avLst/>
          </a:prstGeom>
          <a:solid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0" y="45720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0">
                <a:solidFill>
                  <a:srgbClr val="CCCCCC"/>
                </a:solidFill>
                <a:latin typeface="Calibri"/>
              </a:defRPr>
            </a:pPr>
            <a:r>
              <a:t>Open "Review" → start a spaced repetition session (SM-2 algorithm)</a:t>
            </a:r>
          </a:p>
        </p:txBody>
      </p:sp>
      <p:sp>
        <p:nvSpPr>
          <p:cNvPr id="15" name="Oval 14"/>
          <p:cNvSpPr/>
          <p:nvPr/>
        </p:nvSpPr>
        <p:spPr>
          <a:xfrm>
            <a:off x="1097280" y="5166360"/>
            <a:ext cx="457200" cy="457200"/>
          </a:xfrm>
          <a:prstGeom prst="ellipse">
            <a:avLst/>
          </a:prstGeom>
          <a:solid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28800" y="51663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0">
                <a:solidFill>
                  <a:srgbClr val="CCCCCC"/>
                </a:solidFill>
                <a:latin typeface="Calibri"/>
              </a:defRPr>
            </a:pPr>
            <a:r>
              <a:t>Click "Generate Quiz" → take a quiz, see your score, review mistakes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0" y="2011680"/>
            <a:ext cx="3200400" cy="2286000"/>
          </a:xfrm>
          <a:prstGeom prst="roundRect">
            <a:avLst/>
          </a:prstGeom>
          <a:solid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731520" rtlCol="0" anchor="ctr"/>
          <a:lstStyle/>
          <a:p>
            <a:pPr algn="ctr"/>
            <a:r>
              <a:rPr sz="1600">
                <a:solidFill>
                  <a:srgbClr val="9999AA"/>
                </a:solidFill>
                <a:latin typeface="Calibri"/>
              </a:rPr>
              <a:t>🎬
[Insert demo
video here]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Calibri"/>
              </a:defRPr>
            </a:pPr>
            <a:r>
              <a:t>Links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1097280" cy="50800"/>
          </a:xfrm>
          <a:prstGeom prst="rect">
            <a:avLst/>
          </a:prstGeom>
          <a:solid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029200" cy="3200400"/>
          </a:xfrm>
          <a:prstGeom prst="roundRect">
            <a:avLst/>
          </a:prstGeom>
          <a:solid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0" tIns="274320" rtlCol="0" anchor="ctr"/>
          <a:lstStyle/>
          <a:p>
            <a:pPr algn="ctr"/>
            <a:r>
              <a:rPr sz="2200" b="1">
                <a:solidFill>
                  <a:srgbClr val="4285F4"/>
                </a:solidFill>
                <a:latin typeface="Calibri"/>
              </a:rPr>
              <a:t>GitHub Repository</a:t>
            </a:r>
          </a:p>
          <a:p>
            <a:pPr>
              <a:spcBef>
                <a:spcPts val="1000"/>
              </a:spcBef>
            </a:pPr>
            <a:r>
              <a:rPr sz="1600">
                <a:solidFill>
                  <a:srgbClr val="CCCCCC"/>
                </a:solidFill>
                <a:latin typeface="Calibri"/>
              </a:rPr>
              <a:t>https://github.com/alexzhal1/se-toolkit-hackathon</a:t>
            </a:r>
          </a:p>
        </p:txBody>
      </p:sp>
      <p:pic>
        <p:nvPicPr>
          <p:cNvPr id="5" name="Picture 4" descr="qr_githu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9120" y="2926080"/>
            <a:ext cx="1280160" cy="128016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400800" y="1645920"/>
            <a:ext cx="5029200" cy="3200400"/>
          </a:xfrm>
          <a:prstGeom prst="roundRect">
            <a:avLst/>
          </a:prstGeom>
          <a:solid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0" tIns="274320" rtlCol="0" anchor="ctr"/>
          <a:lstStyle/>
          <a:p>
            <a:pPr algn="ctr"/>
            <a:r>
              <a:rPr sz="2200" b="1">
                <a:solidFill>
                  <a:srgbClr val="34D39A"/>
                </a:solidFill>
                <a:latin typeface="Calibri"/>
              </a:rPr>
              <a:t>Deployed Product (V2)</a:t>
            </a:r>
          </a:p>
          <a:p>
            <a:pPr>
              <a:spcBef>
                <a:spcPts val="1000"/>
              </a:spcBef>
            </a:pPr>
            <a:r>
              <a:rPr sz="1600">
                <a:solidFill>
                  <a:srgbClr val="CCCCCC"/>
                </a:solidFill>
                <a:latin typeface="Calibri"/>
              </a:rPr>
              <a:t>http://10.93.26.98/</a:t>
            </a:r>
          </a:p>
        </p:txBody>
      </p:sp>
      <p:pic>
        <p:nvPicPr>
          <p:cNvPr id="7" name="Picture 6" descr="qr_produc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0" y="2926080"/>
            <a:ext cx="1280160" cy="128016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348</Words>
  <Application>Microsoft Office PowerPoint</Application>
  <PresentationFormat>Широкоэкранный</PresentationFormat>
  <Paragraphs>49</Paragraphs>
  <Slides>5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subject/>
  <dc:creator/>
  <cp:keywords/>
  <dc:description>generated using python-pptx</dc:description>
  <cp:lastModifiedBy>Мартюшев Алесандр</cp:lastModifiedBy>
  <cp:revision>2</cp:revision>
  <dcterms:created xsi:type="dcterms:W3CDTF">2013-01-27T09:14:16Z</dcterms:created>
  <dcterms:modified xsi:type="dcterms:W3CDTF">2026-04-08T18:05:47Z</dcterms:modified>
  <cp:category/>
</cp:coreProperties>
</file>